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2fc2f660144f2c" /><Relationship Type="http://schemas.openxmlformats.org/officeDocument/2006/relationships/extended-properties" Target="/docProps/app.xml" Id="Rd706093e289849cd" /><Relationship Type="http://schemas.openxmlformats.org/officeDocument/2006/relationships/officeDocument" Target="/ppt/presentation.xml" Id="Rbebef3c5a1b4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e0029922c84770"/>
  </p:sldMasterIdLst>
  <p:notesMasterIdLst>
    <p:notesMasterId xmlns:r="http://schemas.openxmlformats.org/officeDocument/2006/relationships" r:id="Rcfb155d9ef1a4804"/>
  </p:notesMasterIdLst>
  <p:sldIdLst>
    <p:sldId xmlns:r="http://schemas.openxmlformats.org/officeDocument/2006/relationships" id="256" r:id="Rdd05e4fce22a44b6"/>
    <p:sldId xmlns:r="http://schemas.openxmlformats.org/officeDocument/2006/relationships" id="257" r:id="R607c2ee49d6b44f3"/>
    <p:sldId xmlns:r="http://schemas.openxmlformats.org/officeDocument/2006/relationships" id="258" r:id="Rc7962e8b33674079"/>
    <p:sldId xmlns:r="http://schemas.openxmlformats.org/officeDocument/2006/relationships" id="259" r:id="R2f4ad680f3004f4a"/>
    <p:sldId xmlns:r="http://schemas.openxmlformats.org/officeDocument/2006/relationships" id="260" r:id="R5187d8e7c6704276"/>
    <p:sldId xmlns:r="http://schemas.openxmlformats.org/officeDocument/2006/relationships" id="261" r:id="R4dee145c0ef64971"/>
    <p:sldId xmlns:r="http://schemas.openxmlformats.org/officeDocument/2006/relationships" id="262" r:id="Rbda16a7a4fe5403e"/>
    <p:sldId xmlns:r="http://schemas.openxmlformats.org/officeDocument/2006/relationships" id="263" r:id="Rf64818cf90074226"/>
    <p:sldId xmlns:r="http://schemas.openxmlformats.org/officeDocument/2006/relationships" id="264" r:id="R2cbb303828ba44d6"/>
    <p:sldId xmlns:r="http://schemas.openxmlformats.org/officeDocument/2006/relationships" id="265" r:id="Re7e739279f784761"/>
    <p:sldId xmlns:r="http://schemas.openxmlformats.org/officeDocument/2006/relationships" id="266" r:id="R7d70afbed91f4cac"/>
    <p:sldId xmlns:r="http://schemas.openxmlformats.org/officeDocument/2006/relationships" id="267" r:id="Re15dae47a878479b"/>
    <p:sldId xmlns:r="http://schemas.openxmlformats.org/officeDocument/2006/relationships" id="268" r:id="R62bcbafce2c445ad"/>
    <p:sldId xmlns:r="http://schemas.openxmlformats.org/officeDocument/2006/relationships" id="269" r:id="R30c032ebd60848fc"/>
    <p:sldId xmlns:r="http://schemas.openxmlformats.org/officeDocument/2006/relationships" id="270" r:id="R73d996e76af941ae"/>
    <p:sldId xmlns:r="http://schemas.openxmlformats.org/officeDocument/2006/relationships" id="271" r:id="R3c223684df154cf4"/>
    <p:sldId xmlns:r="http://schemas.openxmlformats.org/officeDocument/2006/relationships" id="272" r:id="R549224f25d2042de"/>
    <p:sldId xmlns:r="http://schemas.openxmlformats.org/officeDocument/2006/relationships" id="273" r:id="Racaf2a4dbf9749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b9f18d324b4631" /><Relationship Type="http://schemas.openxmlformats.org/officeDocument/2006/relationships/slideMaster" Target="/ppt/slideMasters/slideMaster1.xml" Id="R84e0029922c84770" /><Relationship Type="http://schemas.openxmlformats.org/officeDocument/2006/relationships/notesMaster" Target="/ppt/notesMasters/notesMaster1.xml" Id="Rcfb155d9ef1a4804" /><Relationship Type="http://schemas.openxmlformats.org/officeDocument/2006/relationships/presProps" Target="/ppt/presProps.xml" Id="R906eaf68db5743d4" /><Relationship Type="http://schemas.openxmlformats.org/officeDocument/2006/relationships/tableStyles" Target="/ppt/tableStyles.xml" Id="R18e2e242b7e84121" /><Relationship Type="http://schemas.openxmlformats.org/officeDocument/2006/relationships/slide" Target="/ppt/slides/slide1.xml" Id="Rdd05e4fce22a44b6" /><Relationship Type="http://schemas.openxmlformats.org/officeDocument/2006/relationships/slide" Target="/ppt/slides/slide2.xml" Id="R607c2ee49d6b44f3" /><Relationship Type="http://schemas.openxmlformats.org/officeDocument/2006/relationships/slide" Target="/ppt/slides/slide3.xml" Id="Rc7962e8b33674079" /><Relationship Type="http://schemas.openxmlformats.org/officeDocument/2006/relationships/slide" Target="/ppt/slides/slide4.xml" Id="R2f4ad680f3004f4a" /><Relationship Type="http://schemas.openxmlformats.org/officeDocument/2006/relationships/slide" Target="/ppt/slides/slide5.xml" Id="R5187d8e7c6704276" /><Relationship Type="http://schemas.openxmlformats.org/officeDocument/2006/relationships/slide" Target="/ppt/slides/slide6.xml" Id="R4dee145c0ef64971" /><Relationship Type="http://schemas.openxmlformats.org/officeDocument/2006/relationships/slide" Target="/ppt/slides/slide7.xml" Id="Rbda16a7a4fe5403e" /><Relationship Type="http://schemas.openxmlformats.org/officeDocument/2006/relationships/slide" Target="/ppt/slides/slide8.xml" Id="Rf64818cf90074226" /><Relationship Type="http://schemas.openxmlformats.org/officeDocument/2006/relationships/slide" Target="/ppt/slides/slide9.xml" Id="R2cbb303828ba44d6" /><Relationship Type="http://schemas.openxmlformats.org/officeDocument/2006/relationships/slide" Target="/ppt/slides/slide10.xml" Id="Re7e739279f784761" /><Relationship Type="http://schemas.openxmlformats.org/officeDocument/2006/relationships/slide" Target="/ppt/slides/slide11.xml" Id="R7d70afbed91f4cac" /><Relationship Type="http://schemas.openxmlformats.org/officeDocument/2006/relationships/slide" Target="/ppt/slides/slide12.xml" Id="Re15dae47a878479b" /><Relationship Type="http://schemas.openxmlformats.org/officeDocument/2006/relationships/slide" Target="/ppt/slides/slide13.xml" Id="R62bcbafce2c445ad" /><Relationship Type="http://schemas.openxmlformats.org/officeDocument/2006/relationships/slide" Target="/ppt/slides/slide14.xml" Id="R30c032ebd60848fc" /><Relationship Type="http://schemas.openxmlformats.org/officeDocument/2006/relationships/slide" Target="/ppt/slides/slide15.xml" Id="R73d996e76af941ae" /><Relationship Type="http://schemas.openxmlformats.org/officeDocument/2006/relationships/slide" Target="/ppt/slides/slide16.xml" Id="R3c223684df154cf4" /><Relationship Type="http://schemas.openxmlformats.org/officeDocument/2006/relationships/slide" Target="/ppt/slides/slide17.xml" Id="R549224f25d2042de" /><Relationship Type="http://schemas.openxmlformats.org/officeDocument/2006/relationships/slide" Target="/ppt/slides/slide18.xml" Id="Racaf2a4dbf97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e98514e81f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e4ae6215849f3" /><Relationship Type="http://schemas.openxmlformats.org/officeDocument/2006/relationships/notesMaster" Target="/ppt/notesMasters/notesMaster1.xml" Id="Rc5efb874b7f8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9daf632ff74b10" /><Relationship Type="http://schemas.openxmlformats.org/officeDocument/2006/relationships/notesMaster" Target="/ppt/notesMasters/notesMaster1.xml" Id="R2c039fb2eab84a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556e29ffe646d1" /><Relationship Type="http://schemas.openxmlformats.org/officeDocument/2006/relationships/notesMaster" Target="/ppt/notesMasters/notesMaster1.xml" Id="R5de73f85e9e449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3bb57047734437" /><Relationship Type="http://schemas.openxmlformats.org/officeDocument/2006/relationships/notesMaster" Target="/ppt/notesMasters/notesMaster1.xml" Id="R1ddaf1ee81ce46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feb1dee07b451d" /><Relationship Type="http://schemas.openxmlformats.org/officeDocument/2006/relationships/notesMaster" Target="/ppt/notesMasters/notesMaster1.xml" Id="Rbac302f72f2f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6978544f324b35" /><Relationship Type="http://schemas.openxmlformats.org/officeDocument/2006/relationships/notesMaster" Target="/ppt/notesMasters/notesMaster1.xml" Id="R6620a5037f15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da14671bc249f3" /><Relationship Type="http://schemas.openxmlformats.org/officeDocument/2006/relationships/notesMaster" Target="/ppt/notesMasters/notesMaster1.xml" Id="R48334533088e41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490ff34e9a437c" /><Relationship Type="http://schemas.openxmlformats.org/officeDocument/2006/relationships/notesMaster" Target="/ppt/notesMasters/notesMaster1.xml" Id="Rf2aaa12af5154f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fc2ab428bb490d" /><Relationship Type="http://schemas.openxmlformats.org/officeDocument/2006/relationships/notesMaster" Target="/ppt/notesMasters/notesMaster1.xml" Id="Ra27bc751e3e64e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30747cc4504e5b" /><Relationship Type="http://schemas.openxmlformats.org/officeDocument/2006/relationships/notesMaster" Target="/ppt/notesMasters/notesMaster1.xml" Id="Rccc62beb9d2e49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e5efd57e0b4d6d" /><Relationship Type="http://schemas.openxmlformats.org/officeDocument/2006/relationships/notesMaster" Target="/ppt/notesMasters/notesMaster1.xml" Id="R70987908ad1a40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0338bf5c944224" /><Relationship Type="http://schemas.openxmlformats.org/officeDocument/2006/relationships/notesMaster" Target="/ppt/notesMasters/notesMaster1.xml" Id="R086bcf5a412740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9148daea3a414b" /><Relationship Type="http://schemas.openxmlformats.org/officeDocument/2006/relationships/notesMaster" Target="/ppt/notesMasters/notesMaster1.xml" Id="R33fbf8da6f064d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bf555a2ac248b5" /><Relationship Type="http://schemas.openxmlformats.org/officeDocument/2006/relationships/notesMaster" Target="/ppt/notesMasters/notesMaster1.xml" Id="R9139108db54446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c327790aa04f95" /><Relationship Type="http://schemas.openxmlformats.org/officeDocument/2006/relationships/notesMaster" Target="/ppt/notesMasters/notesMaster1.xml" Id="Re3ed8f70156448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c570c018be454b" /><Relationship Type="http://schemas.openxmlformats.org/officeDocument/2006/relationships/notesMaster" Target="/ppt/notesMasters/notesMaster1.xml" Id="Rd8fb66e076884a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9665f7319a4bfe" /><Relationship Type="http://schemas.openxmlformats.org/officeDocument/2006/relationships/notesMaster" Target="/ppt/notesMasters/notesMaster1.xml" Id="Rea7ba2ead07640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5178e8b7364214" /><Relationship Type="http://schemas.openxmlformats.org/officeDocument/2006/relationships/notesMaster" Target="/ppt/notesMasters/notesMaster1.xml" Id="R8705647fb8564b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/home/griffin/projects/insar-pilot/docs/architecture.md</a:t>
            </a:r>
          </a:p>
          <a:p xmlns:a="http://schemas.openxmlformats.org/drawingml/2006/main">
            <a:r>
              <a:t>- /home/griffin/projects/insar-pilot/.codex_tmp/product_manual_20260831/screens/workbench-search-inspector.png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/home/griffin/projects/insar-pilot/docs/architecture.md</a:t>
            </a:r>
          </a:p>
          <a:p xmlns:a="http://schemas.openxmlformats.org/drawingml/2006/main">
            <a:r>
              <a:t>- /home/griffin/projects/insar-pilot/docs/refactoring-roadmap.md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/home/griffin/projects/insar-pilot/docs/architecture.md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/home/griffin/projects/insar-pilot/docs/assets/screenshots/data-acquisition.png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/home/griffin/projects/insar-pilot/src/insar_pilot/domain/search/models.py</a:t>
            </a:r>
          </a:p>
          <a:p xmlns:a="http://schemas.openxmlformats.org/drawingml/2006/main">
            <a:r>
              <a:t>- /home/griffin/projects/insar-pilot/src/insar_pilot/providers/sar/registry.py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User-provided architecture requirements in 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/home/griffin/projects/insar-pilot/docs/architecture.md</a:t>
            </a:r>
          </a:p>
          <a:p xmlns:a="http://schemas.openxmlformats.org/drawingml/2006/main">
            <a:r>
              <a:t>- User request for GAMMA-style *.par metadata management</a:t>
            </a:r>
          </a:p>
          <a:p xmlns:a="http://schemas.openxmlformats.org/drawingml/2006/main">
            <a:r>
              <a:t>- Target architecture recommendation; not yet implemented in the new Workbench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User-provided requirement for single-step Task updates and selectable file/folder I/O</a:t>
            </a:r>
          </a:p>
          <a:p xmlns:a="http://schemas.openxmlformats.org/drawingml/2006/main">
            <a:r>
              <a:t>- Target Task architecture; not yet integrated into the new Workbench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/home/griffin/projects/insar-pilot/docs/architecture.md</a:t>
            </a:r>
          </a:p>
          <a:p xmlns:a="http://schemas.openxmlformats.org/drawingml/2006/main">
            <a:r>
              <a:t>- /home/griffin/projects/insar-pilot/docs/refactoring-roadmap.md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/home/griffin/projects/insar-pilot/src/insar_pilot/ui/features/search/workspace.py</a:t>
            </a:r>
          </a:p>
          <a:p xmlns:a="http://schemas.openxmlformats.org/drawingml/2006/main">
            <a:r>
              <a:t>- /home/griffin/projects/insar-pilot/src/insar_pilot/ui/workbench/window.py</a:t>
            </a:r>
          </a:p>
          <a:p xmlns:a="http://schemas.openxmlformats.org/drawingml/2006/main">
            <a:r>
              <a:t>- /home/griffin/projects/insar-pilot/.codex_tmp/product_manual_20260831/screens/workbench-search-inspector.png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/home/griffin/projects/insar-pilot/docs/workbench-search-visual-check.md</a:t>
            </a:r>
          </a:p>
          <a:p xmlns:a="http://schemas.openxmlformats.org/drawingml/2006/main">
            <a:r>
              <a:t>- /home/griffin/projects/insar-pilot/docs/workbench-wireframe.md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Target Catalog UI concept prepared for this product manual; not implemented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Task requirements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Target Task Editor UI concept prepared for this product manual; not implemented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/home/griffin/projects/insar-pilot/docs/assets/screenshots/results-quicklook.png</a:t>
            </a:r>
          </a:p>
          <a:p xmlns:a="http://schemas.openxmlformats.org/drawingml/2006/main">
            <a:r>
              <a:t>- /home/griffin/projects/insar-pilot/src/insar_pilot/services/visualization_service.py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validation status dated 2026-08-31</a:t>
            </a:r>
          </a:p>
          <a:p xmlns:a="http://schemas.openxmlformats.org/drawingml/2006/main">
            <a:r>
              <a:t>- /home/griffin/projects/insar-pilot/docs/workbench-search-visual-check.md</a:t>
            </a:r>
          </a:p>
          <a:p xmlns:a="http://schemas.openxmlformats.org/drawingml/2006/main">
            <a:r>
              <a:t>- /home/griffin/projects/insar-pilot/src/insar_pilot/ui/features/search/capability_view_model.py</a:t>
            </a:r>
          </a:p>
          <a:p xmlns:a="http://schemas.openxmlformats.org/drawingml/2006/main">
            <a:r>
              <a:t>- /home/griffin/projects/insar-pilot/tests/test_workbench_search.py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/home/griffin/projects/insar-pilot/docs/workbench-search-visual-check.md</a:t>
            </a:r>
          </a:p>
          <a:p xmlns:a="http://schemas.openxmlformats.org/drawingml/2006/main">
            <a:r>
              <a:t>- User-provided current project 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Roadmap recommendation based on current repository 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structure recommendation prepared from the repository's module boundaries</a:t>
            </a:r>
          </a:p>
          <a:p xmlns:a="http://schemas.openxmlformats.org/drawingml/2006/main">
            <a:r>
              <a:t>- /home/griffin/projects/insar-pilot/docs/architecture.md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goals and current progress</a:t>
            </a:r>
          </a:p>
          <a:p xmlns:a="http://schemas.openxmlformats.org/drawingml/2006/main">
            <a:r>
              <a:t>- /home/griffin/projects/insar-pilot/docs/refactoring-roadmap.md</a:t>
            </a:r>
          </a:p>
          <a:p xmlns:a="http://schemas.openxmlformats.org/drawingml/2006/main">
            <a:r>
              <a:t>- Recommendations synthesized in this product manual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92acb1c0e40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599690111e4ab3" /><Relationship Type="http://schemas.openxmlformats.org/officeDocument/2006/relationships/slideLayout" Target="/ppt/slideLayouts/slideLayout1.xml" Id="R1d70d048bded4b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0d048bded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ae64494b94713" /><Relationship Type="http://schemas.openxmlformats.org/officeDocument/2006/relationships/image" Target="/ppt/media/image.png" Id="R73b4562454834636" /><Relationship Type="http://schemas.openxmlformats.org/officeDocument/2006/relationships/notesSlide" Target="/ppt/notesSlides/notesSlide1.xml" Id="Rf09c7780b61e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1ccb8d28a4d8a" /><Relationship Type="http://schemas.openxmlformats.org/officeDocument/2006/relationships/notesSlide" Target="/ppt/notesSlides/notesSlide2.xml" Id="Ra5b675693b8c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c73b3dfcb4c42" /><Relationship Type="http://schemas.openxmlformats.org/officeDocument/2006/relationships/image" Target="/ppt/media/image2.png" Id="R7a3f3012580c4d42" /><Relationship Type="http://schemas.openxmlformats.org/officeDocument/2006/relationships/image" Target="/ppt/media/image3.png" Id="R513a879d87254d90" /><Relationship Type="http://schemas.openxmlformats.org/officeDocument/2006/relationships/notesSlide" Target="/ppt/notesSlides/notesSlide3.xml" Id="R328a5ad9cb7a4f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23bb84d1a4479" /><Relationship Type="http://schemas.openxmlformats.org/officeDocument/2006/relationships/notesSlide" Target="/ppt/notesSlides/notesSlide4.xml" Id="R52cb3963fe0443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04f5fe6f34147" /><Relationship Type="http://schemas.openxmlformats.org/officeDocument/2006/relationships/notesSlide" Target="/ppt/notesSlides/notesSlide5.xml" Id="Rf55c216eb42845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00d561aed4f3a" /><Relationship Type="http://schemas.openxmlformats.org/officeDocument/2006/relationships/notesSlide" Target="/ppt/notesSlides/notesSlide6.xml" Id="R3f2924c94d14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6b13d05ec4ebd" /><Relationship Type="http://schemas.openxmlformats.org/officeDocument/2006/relationships/notesSlide" Target="/ppt/notesSlides/notesSlide7.xml" Id="R6183bec57ad5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d46dcc06a4503" /><Relationship Type="http://schemas.openxmlformats.org/officeDocument/2006/relationships/notesSlide" Target="/ppt/notesSlides/notesSlide8.xml" Id="R66a52efead5e4d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c84bf85fc4920" /><Relationship Type="http://schemas.openxmlformats.org/officeDocument/2006/relationships/image" Target="/ppt/media/image4.png" Id="R9df7c737fe5748c5" /><Relationship Type="http://schemas.openxmlformats.org/officeDocument/2006/relationships/notesSlide" Target="/ppt/notesSlides/notesSlide9.xml" Id="R1fe749fb41f649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cf66859040b9" /><Relationship Type="http://schemas.openxmlformats.org/officeDocument/2006/relationships/image" Target="/ppt/media/image5.png" Id="Rec6a49170b0f4803" /><Relationship Type="http://schemas.openxmlformats.org/officeDocument/2006/relationships/image" Target="/ppt/media/image6.png" Id="R1d1b2f42a6c047b1" /><Relationship Type="http://schemas.openxmlformats.org/officeDocument/2006/relationships/notesSlide" Target="/ppt/notesSlides/notesSlide10.xml" Id="R42a3bb71a47442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46d80353b4904" /><Relationship Type="http://schemas.openxmlformats.org/officeDocument/2006/relationships/notesSlide" Target="/ppt/notesSlides/notesSlide11.xml" Id="R872690d218cd42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5e69d8b3d49b8" /><Relationship Type="http://schemas.openxmlformats.org/officeDocument/2006/relationships/notesSlide" Target="/ppt/notesSlides/notesSlide12.xml" Id="R14f0c193a1a44d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067a9f064a5b" /><Relationship Type="http://schemas.openxmlformats.org/officeDocument/2006/relationships/image" Target="/ppt/media/image7.png" Id="R56afe995adff4917" /><Relationship Type="http://schemas.openxmlformats.org/officeDocument/2006/relationships/notesSlide" Target="/ppt/notesSlides/notesSlide13.xml" Id="R689c096482e64f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8869f99264b8f" /><Relationship Type="http://schemas.openxmlformats.org/officeDocument/2006/relationships/notesSlide" Target="/ppt/notesSlides/notesSlide14.xml" Id="R712273651fbb4e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1353a73da4a08" /><Relationship Type="http://schemas.openxmlformats.org/officeDocument/2006/relationships/notesSlide" Target="/ppt/notesSlides/notesSlide15.xml" Id="Rd97d71991d5f40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e4e2452f4109" /><Relationship Type="http://schemas.openxmlformats.org/officeDocument/2006/relationships/notesSlide" Target="/ppt/notesSlides/notesSlide16.xml" Id="R47641ab6f03244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0bd6e1b5745a9" /><Relationship Type="http://schemas.openxmlformats.org/officeDocument/2006/relationships/notesSlide" Target="/ppt/notesSlides/notesSlide17.xml" Id="R60a2816f7ba94d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74f8954414b90" /><Relationship Type="http://schemas.openxmlformats.org/officeDocument/2006/relationships/notesSlide" Target="/ppt/notesSlides/notesSlide18.xml" Id="Raf9a5d1d641546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11414-20B8-4A45-8B6D-526801B1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E9CCE-D5E9-45F5-BC6B-2181AB0A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536F6-7890-4FB5-8560-A8F43CC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一体化 InSAR</a:t>
            </a:r>
          </a:p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处理工作台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5FAF8-DEFB-4551-9228-695EC3F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软件产品手册与开发进度说明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A3159-E743-432D-AC06-8675CC53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统一数据逻辑模型 · 模块化 Task · 可扩展 GUI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5AE25-F724-400C-976F-7848585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面向甲方与导师  |  2026-08-31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C8A66-2233-4BC9-A9D5-488760D0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7200"/>
            <a:ext cx="5981700" cy="5467350"/>
          </a:xfrm>
          <a:prstGeom xmlns:a="http://schemas.openxmlformats.org/drawingml/2006/main" prst="roundRect">
            <a:avLst>
              <a:gd name="adj" fmla="val 1742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4562454834636"/>
          <a:srcRect xmlns:a="http://schemas.openxmlformats.org/drawingml/2006/main" l="19073" t="0" r="19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609600"/>
            <a:ext cx="5676900" cy="5162550"/>
          </a:xfrm>
          <a:prstGeom xmlns:a="http://schemas.openxmlformats.org/drawingml/2006/main" prst="roundRect">
            <a:avLst>
              <a:gd name="adj" fmla="val 1476"/>
            </a:avLst>
          </a:prstGeom>
        </p:spPr>
      </p:pic>
    </p:spTree>
    <p:extLst>
      <p:ext uri="{BB962C8B-B14F-4D97-AF65-F5344CB8AC3E}">
        <p14:creationId xmlns:p14="http://schemas.microsoft.com/office/powerpoint/2010/main" val="2131673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CE0F4-2C39-4DF5-BA81-7318C0BC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4CFDB-B58C-4D47-A593-5C44F813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产品定位：一个入口，连接数据、任务与成果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07CBB-ACE1-4CD8-A571-9B84F052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软件不重新实现 SAR 数值算法，而是把多源数据、ISCE 后端、任务状态和成果检查组织成可追踪的桌面工作台。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76B2A-4BB0-4A39-880B-F6B9AD5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2B216-53AD-4704-A002-CF0AA58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718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026F9-A059-4D58-899D-175B8B4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7927E-D900-4457-A77F-029DD17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71B2F-9926-481E-9C92-77701C6D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01  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BDAB7-8E99-43B9-90A4-DEDD94B5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1526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E7A93-0632-41FF-A953-1417B46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数据收集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91601-16FA-4E99-B4F5-B2A22E7D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远程检索、下载、轨道与 DEM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C9D7E-72EE-4992-A643-763BCB6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6220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95CF2-FC5B-4D22-B9C7-455698BB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02  Organize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C5593-3993-40DA-8BCC-167E766D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1526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CC49D-8B7F-4647-B511-74839A06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24D9A-68F7-46A8-A7BF-53C46829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原生资产 + 逻辑产品 + 元数据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D4C88-74A3-45F2-95CC-E84786E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FDA3A-3E52-484F-A669-4A538F88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03  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C7520-B863-44A2-9BD1-0750310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21526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526C1-2FFB-4AC3-93D0-98BF0CE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任务执行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48B41-19BF-4FBF-9A35-5E3EDC00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ISCE2 / ISCE3 / 自研算法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FEAE2-C41E-4436-9381-5DA8BAAE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6220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31A0F-220C-4CF8-BA69-F7DE4E2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04  Inspect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5131A-D607-4690-8471-1C649331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1526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16187-79AC-41B5-BA37-226BA32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成果检查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EAFF0-1F9C-4E9A-B6E6-601D60CA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质量、日志、可视化与导出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08755-B97A-44DE-9F64-B2F0F036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4CB33-B07E-431F-A089-ADD7A920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操作层统一、数据可追踪、处理后端可替换；已验证的 Sentinel-1 + ISCE2 流程继续保留。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5AB7A-FFDA-4546-AC7E-8EB7BFF7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D29FA-5055-44CC-BF0D-6D49961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2270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31726-89B3-49F0-823E-A379CA48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2DEAA-DC69-4287-93EF-053D6BD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已验证流程与下一代 Workbench 并行演进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B2DDC-FFF9-44C1-8B12-77D5559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669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40003-DAAD-4729-98AC-A69D0D4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CURRENT ·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65F18-E69F-4E16-A814-67C9B93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2476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EFD81-1F95-47BE-9F98-D720AB3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NEXT WORKBENCH · DEV SWITCH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f3012580c4d42"/>
          <a:srcRect xmlns:a="http://schemas.openxmlformats.org/drawingml/2006/main" l="0" t="2803" r="0" b="2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28800"/>
            <a:ext cx="52578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a879d87254d90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828800"/>
            <a:ext cx="52578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6910B-4B5D-4523-A844-ACDFA26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旧 MainWindow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1A4AB-F006-46B0-8B15-F76254CD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Sentinel-1 下载、准备、ISCE2 topsStack、运行与结果预览已经验证。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CDBFD-F84D-40E5-97A5-CD1EA349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62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 Workbench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E3DF5-3617-4DC8-ADB5-7F7371D0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864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通过 INSAR_PILOT_WORKBENCH=1 启用；先完成统一检索与低密度交互。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FCBA6-41A8-42E7-9AA6-52D2AAA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15665-C72E-4B41-88FD-735B7604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555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64047B-6370-4668-94CA-E9BE2A9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05B1C-FEE1-4D7D-B51B-DE06D78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数据从远程目录进入项目，再转换为可追踪产品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6F648-729A-42C4-AD74-66E04DFB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1942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4DF9F-EF7D-4817-A19B-0A74A058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1942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9937C-B4F0-4967-A8A5-9680A644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1942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7D8D3-B745-488B-8F41-19AA516D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1942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CCCF4-92C3-46E5-974B-F820FE0D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F4A8A-96A5-4842-B28C-3D1BA7C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543050" cy="2305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9E1B9-C3E3-4379-82F9-BD58F49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Data Providers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6F6D8-A3E7-40FA-B820-B9BC9209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远程数据源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A5D9B-D61D-41DB-85C7-775EB88E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ASF / NASA</a:t>
            </a:r>
          </a:p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ALOS catalog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80E11-F8C4-4E8A-AF09-57B4138A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1543050" cy="2305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084C7-4EA3-4D56-BACB-39FAC61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Search Adapters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9DAB6-B69D-4C6C-B7E8-5117BD0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检索适配模块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B02F2-8115-4FF8-BD7C-69ADBA1A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766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参数映射</a:t>
            </a:r>
          </a:p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错误归一化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C9CD7-BAD7-43FA-90EB-CD6FC5C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76450"/>
            <a:ext cx="1543050" cy="2305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C50E3-587C-4437-B8E1-EEB1AE2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Remote 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855DF-10FF-4F47-BE9B-5B3EC11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统一远程结果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9A265-7B4F-4E05-9575-72852C8E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766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ID / 轨道 / footprint</a:t>
            </a:r>
          </a:p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下载能力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A7594-F97A-4627-BD1D-334712A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1543050" cy="2305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5DD59-8AE6-4CCF-BE3E-72D38232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Catalog / Import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B93E8-6C92-4410-96B4-91BC772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项目数据管理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A5BE0-F844-4165-9BDE-8E9F6F0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766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原生资产引用</a:t>
            </a:r>
          </a:p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SLCProduct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51F6B-319F-43B7-9F47-5D1136F6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1543050" cy="2305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90B76-F658-4E14-8EA2-C99C36E6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Task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EFE0D-C8E8-476D-AB19-AEC5E81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任务编排模块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84D38A-DB80-4DED-A0CE-AAA561D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输入 / 参数 / 输出</a:t>
            </a:r>
          </a:p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取消 / 重跑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1B437-D98B-4DED-A734-49804A9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76450"/>
            <a:ext cx="1543050" cy="2305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4111F-FFB1-47D4-B250-23DA37C5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669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Products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6DE2A3-3691-40F6-BC7C-946B40B5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成果与质量检查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C42453-56E0-4920-967A-A2160CB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SLC · IFG · UNW</a:t>
            </a:r>
          </a:p>
          <a:p xmlns:a="http://schemas.openxmlformats.org/drawingml/2006/main">
            <a:pPr algn="ctr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COH · LOS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D65179-325F-4FAF-8F66-1999B457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9144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A6418-794D-4515-9CB3-A51B482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00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2F483-55A2-4EAD-BD32-29E1ED1A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9144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A9EA1F-7E03-4CE5-A0BC-9F69ECB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00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2F7C35-85E4-48F9-9140-B442F412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990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E38B06-80AD-4D89-93CB-C45EDD8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目标设计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2CEAEB-7E2A-4E9D-B0A5-E97FE14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990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FAF0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EE710E-9E57-4016-8D59-280978B0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005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6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717"/>
                </a:solidFill>
                <a:latin typeface="Arial"/>
                <a:ea typeface="Arial"/>
                <a:cs typeface="Arial"/>
              </a:rPr>
              <a:t>后续阶段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990665-87A3-482B-8260-DCF7B8F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rPr>
              <a:t>模块解释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463C95-A1EC-4778-889C-F50144F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578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GUI 只接收统一模型；Provider SDK、文件解析和 ISCE 命令均停留在各自适配层。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FDC41C-8BCF-42B8-ACD8-D2FF6917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2319AC-812F-4F22-8869-9EE741B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674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BE63C-5AEB-4933-BBB9-8AB3CBB7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F9B96-5E59-4CC8-BE42-6884E03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统一的是逻辑模型，不是强制统一物理格式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A03D1-A201-4537-BCD9-104C1806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71650"/>
            <a:ext cx="4038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1D6EA-DA7D-424A-95CD-0B8B5937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Canonical SLCProduct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21BB7-7042-4E8C-887B-32F0D84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product_id · mission · acquisition_time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orbit · polarization · wavelength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layout / swath / segment · footprint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native assets · processing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FD5DB-7742-4930-8067-EDFAC6E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B80D7-71DC-481C-B20B-5E2A5B8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40005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BE19F-199C-447A-814C-4E7DEC44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28384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DF145-8A48-4768-AF44-5C93691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Native input formats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FCF7B-EBC7-43DB-A857-4BB432E2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95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Sentinel-1  SAFE / ZIP</a:t>
            </a:r>
          </a:p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NISAR  HDF5 RSLC</a:t>
            </a:r>
          </a:p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ALOS  CEOS（后续）</a:t>
            </a:r>
          </a:p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Orbit / DEM / auxiliary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A3B12-11D7-46F7-9EA3-B3079E3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28384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B3387-561B-4B5E-A919-014EF350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Backend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DF8D1-5D87-47ED-A09A-BC110E19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2495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ISCE2 native files</a:t>
            </a:r>
          </a:p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ISCE3 products</a:t>
            </a:r>
          </a:p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GeoTIFF / VRT</a:t>
            </a:r>
          </a:p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Binary SLC / INT / UNW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14350" y="49530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6E3EC-9210-447B-8E5A-243DA3A3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rPr>
              <a:t>TOPS / Stripmap / ScanSAR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1B029-545B-48E1-84A1-164A009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815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通过 acquisition layout、swath 和 segment 表达模式差异，不把所有任务字段堆进一个扁平模型。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9BFDF-0D37-48E4-901E-396EEFC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10A9D-FE29-4364-AFE3-EA4C5DA7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8520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05504-7CF5-4E22-8145-7123CCA1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37FB5-D764-47C8-B2D5-581E4772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项目目录采用“索引 + 原生资产 + 可读 sidecar”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E2607-CCE5-419A-ABEA-93EC3E6A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23875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7262D-218C-4B70-8414-28E060ED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project-root/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2426C-B93C-4442-BDCC-67CF152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├─ project.pilot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71A71-895E-4CD6-B343-29BA6523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项目配置，JSON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6A18F-B133-4789-A70D-B21F1610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├─ catalog/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41F7A-3A5A-4EE3-B62F-8C7B8B9A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05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产品索引（目标：JSON 或 SQLite）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632B1-B59C-4EFF-A762-AA60E47F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├─ data/SLC/S1A_...SAFE/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7DC36-D674-4691-AD7F-87F15651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原始 Sentinel 文件保持不变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B3A5A-E3D1-40C6-BB47-3F37E476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│  └─ product.par.yaml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7F58E-F7CB-46E4-B185-BB02B46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48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可读元数据 sidecar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6D254-041E-42CD-B07A-57DEF7DE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├─ data/RSLC/NISAR_....h5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7C94C-DB7E-48E0-8969-81DAE2E5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原始 NISAR HDF5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90893-DA54-4999-8B4D-89A57E67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│  └─ NISAR_....par.yaml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718A4-7A71-4B1B-9995-2F76739B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90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逻辑资产参数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FDDA7-ABCF-4214-960E-9A8FD068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├─ processing/work/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3CAD9-1F61-4B6B-9939-AA305B6C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Backend 工作目录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4E254-5E1B-46AC-A991-7341A24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├─ outputs/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E5CA2-4FA0-4265-A959-9563C72C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33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SLC / IFG / UNW / COH / 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2BB9E-338B-4946-994B-3789436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└─ logs/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EBEB2-68C8-437A-BE16-660A8282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任务日志与 provenance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26C43-1B3F-42ED-968D-46FF62D4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647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207FB-5724-478D-9A19-8A0679E9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525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GAMMA-LIKE SIDECAR ·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A8A9D-02FD-4868-9FF2-2B613C8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29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建议每项逻辑资产对应一个 *.par.yaml，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便于人工查阅、迁移和统一管理。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32D6A-FEEB-4841-9F30-D0AA4A58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5CE3A-B04E-46EC-9F90-123200E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为什么不是强制统一二进制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21B09-16A6-42F4-80A7-DD1A0E0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SAFE 与 HDF5 是容器；拆开重写会增加存储、耗时和信息损失风险。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B7701-519B-4712-9D05-802A4421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556BC-5004-4EB3-BBD9-C0169452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sidecar 规则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EE932-7A59-467F-BC83-ECDC7961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schema_version · product_id · native_path · dimensions · geometry · orbit · checksum · provenance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035D-4018-403D-AAB1-7D70AA48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建议：Catalog 为查询入口，sidecar 为便携镜像；二者通过 product_id 与 schema version 校验。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6ABDE6-85A5-45BC-8C2D-6BD02E2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310C5F-3ACB-4B6D-84AD-844A5E03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3595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53C87-C7B1-4A75-8443-DAB55F0C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8852C-760F-4789-9220-EC59D42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Task 将单个处理步骤工具化，并完整记录输入输出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93A5B-4A54-4CD0-A20A-88209B6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3847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235B7-5172-4EE2-9D5F-7176C580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3847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751C1-EC14-4040-A2C8-C82DC93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3847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2B65B-DBF4-4308-9730-B72FB617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3847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A67B5-B977-4765-946E-92A2C4B0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771650" cy="22479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96028-440E-495B-A98D-DF36C60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3BA93-12C0-4091-B9B7-73D7973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28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Catalog product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File / Folder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696DE-563A-48C0-90D5-B5883FE7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33600"/>
            <a:ext cx="1771650" cy="22479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B29FE-2D8F-499A-B764-B0C62AC5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46215-D45D-40A7-B472-BBAC2226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428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可编辑、校验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保存为预设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2D8B5-FEF2-4D0A-A4E9-9313586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1771650" cy="22479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6EC21-7433-4698-A79F-6FB9C40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4A55B-476D-4F2D-AEC1-FD36F4F3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47950"/>
            <a:ext cx="1428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ISCE2 / ISCE3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Custom adapter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A5A87-F5BB-4E38-A03B-991F1631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1771650" cy="22479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3256D-D3BE-48FE-B4A3-07A17D3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B7B49-3AB2-4E13-A2B3-49F15483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47950"/>
            <a:ext cx="1428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覆盖旧结果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或新输出目录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921E7-736E-4BE6-A0A7-B8390DAD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1771650" cy="22479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9714E-69EC-4FE5-8157-5E255E27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Provenance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CF391-EB09-45C3-809A-70ED630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47950"/>
            <a:ext cx="1428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日志、版本、耗时</a:t>
            </a:r>
          </a:p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输入校验和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98252-218F-4501-A92A-7B3FA3D8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905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4F8D2-9CD8-4049-91EB-7A06F58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SINGLE-STEP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C3E45-5E00-471C-9428-02636AA5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修改任意步骤参数后只重跑该 Task；输出策略、依赖和旧结果处理均显式记录。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EDD5E-FD2F-4DAF-A5C9-44B9C5A2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Task 是应用层工具，不把命令拼接、SDK 或文件解析逻辑放进 GUI。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35AA1-0874-4107-9CBB-91BFC193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5FD2C-5033-4E3C-A5AC-AEA78205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3553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912CA6-869A-4D4E-B885-B1F64CB5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DBD06-2EB7-4B6D-BDF4-A39D718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模块化开发：先稳定契约，再并行交付能力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09022-4204-4655-9B32-AEE57B3A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476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0715C-71B0-4721-B5AA-D9B09E19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2476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88E81-4BC7-4AB5-8F63-7245ECA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2476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A8796-7DD9-41FD-86F8-32D59053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38650"/>
            <a:ext cx="2476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B5496-40E9-4F98-9EF5-4F2F5B7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6191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D725A-564E-41A9-9D36-13442A38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GUI / 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FFD0A-EFAD-4288-88C9-8A2CBC5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192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Workbench、Model/View、布局与交互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F952A-7289-477B-8165-4941549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2133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097C2-2043-4BC0-8609-66EACF9C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049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GUI 模块负责人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49B5C-F7E5-42E4-B987-3D9AD88C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6191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ABA1-1B04-4075-A4BD-928370C7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F7AE7-55DE-4871-A53B-B895723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Search / Task / Project 用例与状态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BEDEB-2948-4B13-A555-E842D370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38400"/>
            <a:ext cx="2133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77E1C-FA34-4F04-9C73-7ABE579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860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应用架构负责人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01944-C59D-421F-A687-6BCBC9D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6191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3FC4F-59C1-44CA-8131-E4FF6B17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Domain &amp; 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3E345-F92B-4F0A-81B0-3920AB9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813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统一模型、能力契约、持久化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D783C-503C-410A-8F2B-5C503A0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2133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DA584-EB14-4EDA-BC9D-46DA70C3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670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数据模块负责人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9E2DD-C005-4B28-986D-A94B46F0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6191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C4045-B2B0-4755-8914-5121883E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Provider &amp; Backend Adapters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1C23B-27D0-449F-AA09-1669965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ASF / NASA / ALOS · ISCE2 / ISCE3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B15B4-6439-4B30-96E1-CEF02B91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00500"/>
            <a:ext cx="2133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53914-0823-45E3-8ED9-05A5B12B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4812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处理后端负责人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B533E8-8097-4131-A3E4-304EFA2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6191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7B842-1E9B-4DF5-BA5E-C067944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Platform &amp; 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C3D87E-C6A3-4D69-BC75-6804357B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43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运行环境、测试、日志、发布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A0AF73-B542-4F83-AD68-FD18F9CD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81550"/>
            <a:ext cx="21336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5CC43-BC9B-43C7-95AC-481CF61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291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质量/发布负责人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785EC-CC74-45D9-9472-24C00FBD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rPr>
              <a:t>开发顺序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57D005-8A1C-4D05-B4F0-C6FC17F7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809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契约与最小纵向切片顺序完成；稳定后 Provider / GUI / Task / 测试并行。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4112D1-770C-4751-9ABD-B85C28B4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719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避免一次性替换所有模块。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43444B-214A-405C-94C4-461CE8B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9078A6-D93F-401B-8E11-2405DE38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2305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D0A19-C44B-4687-A0AB-1DC9CCA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20770-3AC2-4A20-9990-3119FCE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Workbench 只展示当前任务所需的信息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7c737fe5748c5"/>
          <a:srcRect xmlns:a="http://schemas.openxmlformats.org/drawingml/2006/main" l="0" t="12533" r="0" b="12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11163300" cy="4705350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2CD7F-FBB0-421A-A7CC-AE71520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E3A56-E112-4AEF-96AD-B2757A01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Search filters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B0439-A57F-40B5-9D83-FB8D2F54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430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D518C-8DE7-4759-AF15-017BE4A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19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Map &amp; footprints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0F605-480E-44C9-B000-A47F58C1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8160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1644F-D57F-4D81-A7A2-EDD6951A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57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Model/View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98C00-2E26-41B4-98D0-05F290DE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6210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360F0-6532-4965-B801-147F2F2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38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Inspector on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15179-81DA-40A6-900A-6F34644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13DC9-B725-4F6D-A2A4-0E05403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1283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69493-B676-48D8-BCB2-F8F4255E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FC041-81B5-444D-BA4B-3A00D264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GUI 缩放策略只维护 Normal 与 Maximized 两套规则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6DD19-6E1E-4DE3-8236-0065A02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962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58B44-7586-4F72-911B-8671480A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NORMAL · 1440×900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BA774-A2F2-4519-AB27-BAD43EAC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400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AD3A4-D295-4B45-9931-B227F4EF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763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MAXIMIZED · 1920×1080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a49170b0f4803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47850"/>
            <a:ext cx="52578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b2f42a6c047b1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47850"/>
            <a:ext cx="54864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E0FF5-D7F4-4A52-8BE3-1702905B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固定：点击目标、基础控件、最小可操作宽度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A855C-489E-4688-91D1-D4646378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自适应：地图、结果表、Inspector；最大化不增加默认信息量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EC70C-6829-47DF-80F2-F5E601F0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8669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BFC03-4E66-4FEF-972A-3CFDBA91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12 种布局组合通过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74D7E-BC18-4F2D-BC3D-746E1991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43575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Normal / Maximized × 中英文 × 100% / 125% / 150% DPI；最终 WSLg 人工验收仍待完成。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68B0C-AF8E-4C73-B16A-BAB761F1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46CFB-4323-4714-9D64-4963492D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92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E7D494-C45B-4432-863E-58F98EC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00355-3D85-40AA-B85D-A4CDECCC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Catalog 界面用于查数据，不承担默认可视化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74867-57F8-4360-AE83-49FCD90A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"/>
            <a:ext cx="3086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FAF0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280A1-1D2F-4A77-A59A-72F9012A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6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717"/>
                </a:solidFill>
                <a:latin typeface="Arial"/>
                <a:ea typeface="Arial"/>
                <a:cs typeface="Arial"/>
              </a:rPr>
              <a:t>TARGET CONCEPT · NOT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DF4E4-8BD0-4B49-8E40-C90D5014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FBF9D-4B0B-4973-94B0-AE792DAE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D442-A17F-46FF-842D-202E35E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0015-3B17-4EA0-92FC-CCE3006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61CE3-819D-4BBC-A172-86561A26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Create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C9926-64DA-472E-A081-B7389D4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3241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2DA44-7794-44FA-B3A8-AAD3052A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BD8F4-BCE9-4364-8222-856FE34F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8097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Mission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Sentinel-1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NISAR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ALOS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Product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SLC / RSLC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IFG / UNW / COH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Native · Ready · Derived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B8A29-95B9-416A-9F92-E1F42DC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59055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28101-C600-4077-953C-89B093F2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38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B5374-A0F0-4B10-B079-ED297380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383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18600-E578-4321-9E40-1717BB72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499D7-28E2-4B78-AD5A-CAA7C1E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00C8C-BAC4-43E7-8C04-C022500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2971800" y="2324100"/>
            <a:ext cx="5619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45898-635F-4CCE-96E6-3B600DA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00300"/>
            <a:ext cx="573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E999F-9811-4487-B51B-0DAA8D2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S1A_20260812_001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DA033-9983-4FC3-AEAA-D5661A7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14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2313B-41E0-4264-9EA2-19B1FDF6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SLC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8EF6B-556B-4846-A7AF-C0431A9E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08-12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B555D-F608-424B-A130-BC67E975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27772-1BCE-4A10-83EF-904BA187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NISAR_L2_RSLC_021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8755C-14A5-48B7-824C-BDD90A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NISAR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5360E-54BB-4905-9B11-CD0BE0D9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RSLC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FBD3C-EB81-4473-9F08-894DD253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08-18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8D72E-F759-4EED-8321-EE0E5D7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263333-EDB5-4439-93B5-5B2B92E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67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pair_001_002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67F33D-DAE1-4D88-94AC-AB17DD32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67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23A4F3-38DA-4052-8C59-FB19CBCA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IFG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28C02F-6D96-49ED-AB6D-32335D6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08-26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70CDC-5A4E-464E-B718-55E0B64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Derived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80D558-198B-4248-AAF4-E1C8C20D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43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pair_001_002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BD8C52-D23B-4358-9B53-5C938171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43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2A381-8B08-4C2E-ADBC-EF097E3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UNW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40EDD5-863F-4789-B63E-31679DF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43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08-26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A8943-F8BA-4CB6-8680-1BA0FFC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Derived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B4D988-CC25-46D6-9DFF-E52C0816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9337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E83DAB-50ED-4F94-A1F6-F1ACF50D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INSPECTOR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0FEC9E-31B4-4522-B397-023B09B5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38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Product ID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S1A_20260812_001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Native asset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data/SLC/...SAFE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Sidecar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product.par.yaml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Processing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Ready for ISCE2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4B6FCD-7F70-4BAA-BB16-57DE057E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19700"/>
            <a:ext cx="10668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C21F78-78EF-44BC-B609-E145735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24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Visualize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7803CD-D10C-48C0-B509-6BA9824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19700"/>
            <a:ext cx="12001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3BF9DC-4042-437B-998C-0EC229E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244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Open folder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D6D3D0-7C94-4CB9-8446-9360D60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选择产品只同步 Inspector；只有点击 Visualize 才创建可视化 Task。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E59E37-4493-4988-8BA5-54C55F6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E2DE60-E57B-4C52-8D6C-AB182C54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12237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3B4C8A-E51A-4636-9B24-18543D3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8F98B-C0FA-4B05-AE26-620E43D1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Task Editor 支持单步骤更新、参数重跑与输出策略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BF3DF-360A-43AD-9EB2-BE8DAE5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"/>
            <a:ext cx="3086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FAF0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0EDE9-CBE4-4D4B-B387-BE9D8555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6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717"/>
                </a:solidFill>
                <a:latin typeface="Arial"/>
                <a:ea typeface="Arial"/>
                <a:cs typeface="Arial"/>
              </a:rPr>
              <a:t>TARGET CONCEPT · NOT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3BA37-A10D-4BA0-B8F7-E607DD6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B50B-FE8D-4B2D-AF81-910DEF10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381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F7108-6B1A-46EB-B01D-CF7943FE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WORKFLOW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C30A6-DE95-46A4-859B-6EA08FDF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  Validate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A4C2B-B09E-4062-82FA-F396708C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02  Prepare DEM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AB483-7104-4319-92CF-E05A3F71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03  Coregister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5B97B-B74E-4F8E-9D94-880844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1145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37511-28E8-4223-B250-5B2B1F9E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04  Form interferogram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155B7-C8D1-49B1-8B34-04A8513F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05 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6C029-8816-4109-9DA4-C3FFDC4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06  Unwrap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870E3-B5C2-43F5-B85E-20AB7044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Form interferogram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7D3B7-2C09-43A7-927B-2411F4F4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19250"/>
            <a:ext cx="1409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0212D-06FB-41A3-AA22-D5FA541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668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Ready to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AE949-7144-4C33-BE37-A864FE7F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52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77C89-2F97-45E9-9614-6CD9A33E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7239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DA01F-766C-438A-A273-7A119FB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Reference product    S1A_20260812_001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7937C-4A55-447A-8D74-89A3E355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7239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5C2E4-595B-4F1C-BD1E-B746A34E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Secondary product   S1A_20260824_003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F5FBF-14C1-4498-8332-A11CC88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126AE-3FA5-489E-BF4A-96EFB7A7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Range looks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378C1-BD72-4DBB-B56E-14DA500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2095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4596F-D4CA-45C6-8845-A787C88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C2445-2E89-4AB0-A738-7D2B522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Azimuth looks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AAE80-D2A7-4694-A819-052B6516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95750"/>
            <a:ext cx="2095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F2F9C-F816-4DD0-AD4A-2B85AA49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910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4A735C-E384-4857-9286-7A2F196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E9200-19D6-429F-ABBA-E5F03BF8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E73E1-0036-4DF1-92D2-0C8B1F3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ISCE2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24EF0-0BCE-4892-93EA-9EDF273F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OUTPUT POLICY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01305A-501D-4AC0-ACD2-960A47DE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53000"/>
            <a:ext cx="26860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21585-8318-44A0-8047-5727C3F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● New output folder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3C13B0-8F99-40B6-837F-80D5051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26860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FA3CF5-8EC2-46A1-B440-D35F9C0E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57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○ Overwrite previous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0E5E48-2DA5-4308-BF18-5617B3D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15049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FA53B6-6733-4C91-827C-56B29638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388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this step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712545-E1A0-4206-B480-30DC9EEC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1BE517-449E-47FE-BF16-6CC799C8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8159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CB256-E681-4E9E-B09D-93568584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09331-88DB-4776-B656-C719944E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可视化是显式调用的独立 Task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fe995adff4917"/>
          <a:srcRect xmlns:a="http://schemas.openxmlformats.org/drawingml/2006/main" l="11264" t="0" r="11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66850"/>
            <a:ext cx="501015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D1DFA-4665-410F-8EBB-7317653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15000"/>
            <a:ext cx="2324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F6FB-2D6B-4E71-9454-18B0967D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62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LEGACY CAPABILITY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0B028-C487-4FEB-B774-2C3800E1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9D0DE-8C71-428C-959E-C4C0D6EB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E4EA1-01EF-4D5C-9CF8-C55B5E1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57600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08803-DC7E-48F4-B0C5-3E180162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38650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8B4E3"/>
          </a:solidFill>
          <a:ln xmlns:a="http://schemas.openxmlformats.org/drawingml/2006/main" w="0">
            <a:solidFill>
              <a:srgbClr val="68B4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A68B9-7221-431A-BBCF-7E82E4C9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B70E4-BDD6-4BFA-A989-DC1DC407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  Select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53181-09C6-4AB5-8DB9-760D5770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SLC / IFG / UNW / COH / LOS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2DDE2-FA5F-4162-9E47-E3C83E88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046CB-2A3D-4C43-B317-6439C67C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2  Choose Visualize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7A332-AF61-42AE-8F89-7C15B04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不会因搜索、导入或选中自动显示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999AC-5AD1-4C96-B174-FFE8A3A5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5333A-E341-49B5-B21F-33D28C9B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3  Set renderer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7451B-2AF6-4508-A58D-64AD1CFF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looks、phase、color range、overlay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62589-CD48-4D0A-9BE6-A6536A22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09874-73AA-46D8-BBB6-61549037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4  Run cancellable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F6DBB-19B9-44E1-A550-FD404852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生成临时预览或显式导出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28759-91FC-496E-846A-BAFC891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1B421-FB03-4627-92D1-651628DC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5  Inspect &amp;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6FA9CA-7EAD-44C1-83CB-3AF232D9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PNG / BMP / JSON / geospatial outputs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8A758-7C77-4CF3-A32C-336B688B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57900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旧 GUI 已具备局部 quicklook 能力；新 Workbench 的统一可视化服务尚未接入。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917F2-C3EA-4A12-83D1-3685C038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6ED65-2011-4282-970F-77839487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66392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354CB8-1DC7-4CB1-9463-3100B61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A21A0-3993-4E73-86BB-A7871AF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当前处于多任务检索骨架完成、生产 Provider 扩展前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754E2-DEB1-456C-ABB2-F2292403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8046B-E11A-48C3-B69F-782F1A14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312AE-D26B-46D4-924F-618655DE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407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23BCF-DA08-465A-AFE9-A237D6C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716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622D4-363F-404D-A764-08628061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571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1FFB2-9AB0-472A-BB07-96C1688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A1BE3-DBC4-416E-8DA2-C89B20EE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Legacy Sentinel-1 + ISCE2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3D556-D879-48F8-9AF3-9DF73185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下载、准备、topsStack、运行、结果预览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DB140-F956-4108-937A-F6D02A6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90725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EC6B5-9121-44B1-90D3-1506A7BC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2DF75-ACB3-45AB-BFE0-3B5E0FBE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15C8A-EE06-4A22-BDD4-66532D3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5E528-F057-4A47-A201-B620355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Workbench shell &amp; layout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AB5E1-7E12-43DD-872F-6848D84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050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独立窗口、Normal/Maximized、折叠 dock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EF1CC-2ABB-4FAF-9A5B-8E0E79B0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889F1-4549-472C-84AA-F91ACFF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4ED94-6FB0-4E30-9271-8C48D06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WSLg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99276-FF1C-4BAC-93CA-83F8DAC4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85091-D1CC-4FDA-92D0-E809577E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统一检索领域层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40B45-02F2-4BF7-A863-87E5A44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SearchRequest / Product / Registry /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154F3-5ADE-4F95-8E48-8A470699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38475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BDE8E-41E9-4B65-AB8B-5AF372F9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已完成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94593-AE2E-4086-9CF6-F80A583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扩 Provider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6A981-79BF-4173-9119-7C719A02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38525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0D3A1-6115-46D7-94F2-D1D27EF3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Sentinel-1 production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34732-1563-4F45-98FD-B5B725D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ASF adapter；A/B/C/D 显式能力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FFA0A-B1E5-41C8-8850-31D2340E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04702-C749-488E-851E-85C4FFD6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099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已完成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DBCC6-92E2-4F34-99AB-2830BDEA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718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稳定化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F4E2C-D3EA-41A5-8CB4-5450C7D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122D6B-93B4-481F-BAE6-37AA7AD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Capability-driven 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8838D1-EC70-47E1-8B5B-256DC0A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76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Mission / product / platform / filters 动态投影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BB2487-44A5-44D2-A49F-778ED52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86225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E7F4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3EB0A4-FA8C-42DA-B698-8DBFB711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338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已完成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92E878-24AB-4C8C-B8E6-934E079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生产任务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56EEC-D576-4994-A6A4-64274226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86275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B68BEF-A686-44A7-965C-C177C69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NISAR RSLC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519298-76B3-43BE-9BA3-EAB5DCC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005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RSLC-only 契约；生产 Provider 未实现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ECA7DC-8003-41DF-8813-5B8FBF96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10100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FAF0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C5510-874B-4607-869E-8302DA58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577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6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717"/>
                </a:solidFill>
                <a:latin typeface="Arial"/>
                <a:ea typeface="Arial"/>
                <a:cs typeface="Arial"/>
              </a:rPr>
              <a:t>待开发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EA1EA9-AF68-4FFF-842A-8A956324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真实检索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504B1A-049A-47A9-B9D2-E5FF2BC8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71F85-35FC-45B8-A8F1-D05AB0AE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ALOS search-only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7364F8-B3AF-468E-97DA-550D8C44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24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Registry 契约；具体支持矩阵未确认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09A162-083F-4958-BCB5-6F33C4D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33975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FAF0D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CDE9F2-6FF7-4EF4-AA1F-3D796E87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816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6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717"/>
                </a:solidFill>
                <a:latin typeface="Arial"/>
                <a:ea typeface="Arial"/>
                <a:cs typeface="Arial"/>
              </a:rPr>
              <a:t>待确认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6A4516-22DC-4A7E-BB28-FA948B4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Provider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31FCCB-52E7-47BC-8C50-DBA6E3B3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386871-8B00-46EF-B13E-F035F6E3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Catalog / Task / Visualization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C0D2C9-7DAA-4CD5-AC01-2E2B7D01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483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尚未接入新 Workbench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E3E84A-50DD-4873-84DF-C3640C6A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57850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FADB24-5119-4951-99AF-08227DCA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05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474"/>
                </a:solidFill>
                <a:latin typeface="Arial"/>
                <a:ea typeface="Arial"/>
                <a:cs typeface="Arial"/>
              </a:rPr>
              <a:t>后续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769DE1-3CF0-493E-8708-3BBFE71C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6673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分阶段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1DDAA0-A2A8-41CC-9E0C-EFBD1B2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rPr>
              <a:t>验证记录：357 passed · Ruff 全仓通过 · Mypy 相关 19 文件通过 · 12 种布局组合通过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C84348-10C4-4387-9B83-CB2997D8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E80CBA-B4E8-41C4-A1F0-3541FB03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18736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9F344-95AB-4ED1-BFC8-45CBA7F2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2ADE8-97EC-416D-A6E2-32BABF7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当前困难集中在 Provider、数据边界与交互验收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9DB57-9BED-4BD1-8829-34F469B6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E0856-5236-43D0-8BA0-34D23A30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Provider readiness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14350" y="2076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67DE6-0316-4019-BBB9-CE75E08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NISAR RSLC 和 ALOS 尚无生产适配器；上游目录、字段和分页行为需要真实验证。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53E28-73B4-4C85-B003-5975AAC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AE956-E694-4C31-A171-D2CCBE49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62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ALOS support matrix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286250" y="2076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6E8AF-F517-4A7D-A740-60A0F14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必须先确认 ALOS-1 / ALOS-2、产品级别与远程目录，不能仅凭任务名称映射。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A9A76-8ADA-47F4-A4FA-C281B06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3EB4D-98DA-423A-B638-11FB8C5E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Cancellation boundary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8058150" y="2076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31AC3-1C70-4849-96C7-6AD8C801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已开始的同步 HTTP 调用无法强制中止；当前采用请求失效、超时和丢弃迟到结果。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127E5-A0B5-4711-8892-5A61D141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D4509-754A-4316-BD43-F4A012F5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Migration safety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14350" y="42291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D7ABB-4C5B-492F-ACC7-F914BE2E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下载、Catalog、Task 与 Backend 接入必须保持旧 Sentinel-1 + ISCE2 流程可运行。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176B3-5CD3-473F-B904-255CEAB9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BDE9C-4008-4357-A44C-06B77D88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Real-display QA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286250" y="42291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D551F-B804-4575-98FC-BDFB9A69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offscreen 矩阵已通过；滚动、拖拽、缩放和 WSLg 窗口管理仍需人工验收。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71D87-2262-4710-A375-DA8ECAB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F2C24-DD2D-44BB-B932-A65633A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 governance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8058150" y="42291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B09168-F92B-4D56-AFC7-21AC42B7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统一 product_id、sidecar schema、校验和与 provenance 后，才能安全支持覆盖和重跑。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E2232-3AD6-4C9D-9996-A84BFF1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DE1C98-6021-43D8-A2AD-8966B73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4311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2A5E9-A961-45A7-9B02-6F616CD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3FF8A-8A32-4A8F-959B-31C3E720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下一步按四个里程碑推进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1066800" y="3048000"/>
            <a:ext cx="10039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CB138-5302-4D74-A323-A480B4F3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81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D16DD-8D35-4737-8697-61C3AA06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81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F7065-9E60-42B3-B717-D428DD73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81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9BB55-A48F-41CC-932D-710D68E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81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FE231-AAF8-4AAD-BFB2-AD977379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1FABE-DF55-4B47-BB31-1BCC0361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ABCB6-A672-4DAA-B2B6-BAB56DA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1717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生产检索到位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2378B-D9F5-4866-91A2-A2754B7F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371850"/>
            <a:ext cx="2019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NISAR RSLC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ALOS search-only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真实 WSLg 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27EAB-0BC2-474E-948B-0E436CE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954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935A2-A3C7-4E30-A93B-B610944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43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C873F-E5DA-467C-B936-6982A2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统一下载与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79B94-D558-451E-B53D-C0B26AD6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2019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原生资产引用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product_id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*.par.yaml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4E00E-8991-4651-AE63-61E69E2D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357E6-A777-4F7C-B309-65938598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43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F399C-C5A9-4DF3-9F61-2E70F02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Task 与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D0212-1B4E-45F0-A610-DB20EAE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2019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单步骤重跑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ISCE2 adapter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再接 ISCE3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59D58-8A0B-4D45-BDB8-6DC9CEF2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954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A34B9-A509-485F-9B54-FBE1E3F5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43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A7142-BCD6-4637-9F81-8FD53855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可视化与质量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48C90-0957-45A3-8D2E-D39EE48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019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SLC / IFG / UNW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COH / LOS</a:t>
            </a:r>
          </a:p>
          <a:p xmlns:a="http://schemas.openxmlformats.org/drawingml/2006/main">
            <a:pPr algn="ctr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显式调用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CA63A-FC23-47AE-AA67-0A37A08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63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61DC2-A81C-4467-8DA1-449D4DB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DA7"/>
                </a:solidFill>
                <a:latin typeface="Microsoft YaHei"/>
                <a:ea typeface="Microsoft YaHei"/>
                <a:cs typeface="Microsoft YaHei"/>
              </a:rPr>
              <a:t>推进原则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C4ED2-5AEF-4478-8EB0-3D69DE06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925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每个里程碑都有可运行纵向切片、测试与视觉验收；不同时替换 GUI、数据模型和处理后端。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5B1B1-D0B8-4E50-AA54-6675DE8D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00C3B-FAFE-4658-ACAA-A5A3867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26938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CCBD5A-0F4E-4CF9-AB4B-6BEFD18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970A1-D4C4-4E42-80C4-96E8FC68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建议配置 4 个模块负责人，架构与 InSAR 专业横向把关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D1141-DA88-4971-A643-BF4B760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最低可持续配置：4 名核心开发，其中 1 人兼任首席架构 / InSAR 流程负责人；理想配置为 5 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3D8BF-FA68-4B3E-B5B6-B75FE5C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41D9B-DA7E-4CC3-BC92-BA9C8336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OWNER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73FF2-17E2-4593-9A7E-0AAF4AC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1526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68B4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CBE2F-0EB7-4DC3-B41A-F9A6EE32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Data /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57AA0-A3F2-4ED6-8BF6-D9281B96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检索适配、下载、Catalog、sidecar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CBD3D-7C65-4AAE-9946-44AC7D4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0505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ADE08-210A-4966-86D0-82C2932E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52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OWNER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9A274-A238-448E-91CC-A89D357A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21526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83938-76AC-40BA-A3CD-C34B5D4F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Task &amp;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1C196-0D03-4365-A142-AE2F4A3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Task Engine、ISCE2/ISCE3、运行环境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A1A5D-E18F-4F7F-A470-EBD6E78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9C713-3805-4E95-A08C-F6B0C713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OWNER 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62681-DD58-4CB9-A4A4-972C4D2F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21526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A2726-ECBC-4F58-B694-E522FB09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GUI &amp; 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2FAA1-7222-4418-99D7-F0066F1E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Workbench、Model/View、布局与交互验收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1B480-232C-425C-A190-D52E3B10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E7F2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A3079-C6F9-4A3C-B06B-DC136F1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52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OWNER 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C6194-529E-4849-85DE-ED180AD5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1526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EA562-DFF7-471C-AAD2-0B1BAD52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Quality /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F6447-0676-424E-827B-5B1636CE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自动化测试、数据样例、性能、发布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1524000" y="4914900"/>
            <a:ext cx="9010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B4E3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6C6D3-BCCA-4726-A635-F379AF6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625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Architecture / InSAR Lead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79733C-F734-4C34-BF6A-62C19B73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387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统一模型、接口决策、科学正确性、跨模块验收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924B5-EEB3-438A-B118-9006408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6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单人可以完成研究原型，但生产级多任务、GUI、Provider 和科学验证全部由一人承担，会显著增加周期与回归风险。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C19DF-6339-45D9-92FF-2616ABB6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985EA-292F-450F-9CE8-4F0AF51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04334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F1AD0-ADB1-4B6E-AF76-1F074F96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DA7"/>
                </a:solidFill>
                <a:latin typeface="Arial"/>
                <a:ea typeface="Arial"/>
                <a:cs typeface="Arial"/>
              </a:rPr>
              <a:t>INSAR-PILOT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44E6C-AE97-42EB-B2FD-0417CCEF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下一阶段只需先确认三项决定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F3783-42FF-47C7-BDFA-1F86A0FB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E6E9E-05B7-462A-A083-D50C8A29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ALOS 支持矩阵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2BFA0-E14B-4952-9EDE-42A040A6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573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ALOS-1 / ALOS-2、产品级别、生产目录与仅检索边界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524000" y="2362200"/>
            <a:ext cx="9848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4502B-9EAA-43A8-9DFF-6A9E631F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CD009-5C0B-452D-820F-CD50C72B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sidecar 规范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A0485-F875-48FF-B4DC-70E331CC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采用 *.par.yaml 或 *.par.json；确定 schema version 与 Catalog 同步规则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524000" y="3676650"/>
            <a:ext cx="9848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E555B-275F-4C87-AF36-10F363E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8B4E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8B4E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4A4FB-4B38-4A83-B096-0A04C4B7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人员与验收环境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83A6E-619E-4C1C-91B5-197693F5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4 名核心负责人；明确真实 NISAR/ALOS 样例和 WSLg 验收机器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524000" y="4991100"/>
            <a:ext cx="9848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C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48D05-B513-4987-9CDC-1DFE9FA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F6DA7"/>
          </a:solidFill>
          <a:ln xmlns:a="http://schemas.openxmlformats.org/drawingml/2006/main" w="9525">
            <a:solidFill>
              <a:srgbClr val="2F6D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E6114-CA88-42F1-A4C5-0432096A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结论：架构骨架已经清晰，下一投资重点是生产 Provider、Catalog/sidecar 与 Task 纵向切片。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57E2C-F66B-44F3-8BB6-77603D7E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474"/>
                </a:solidFill>
                <a:latin typeface="Microsoft YaHei"/>
                <a:ea typeface="Microsoft YaHei"/>
                <a:cs typeface="Microsoft YaHei"/>
              </a:rPr>
              <a:t>2026-08-31  |  InSAR-PILOT 产品手册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C7F54-95FF-4EF8-A683-FE9400D1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4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94122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2026-08-31T07:40:53.9010000Z</dcterms:created>
  <dcterms:modified xsi:type="dcterms:W3CDTF">2026-08-31T07:40:53.9010000Z</dcterms:modified>
</coreProperties>
</file>